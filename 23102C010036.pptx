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Telegraf" panose="020B0604020202020204" charset="0"/>
      <p:regular r:id="rId15"/>
    </p:embeddedFont>
    <p:embeddedFont>
      <p:font typeface="Telegraf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4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74B6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4361" b="-4361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6744969"/>
            <a:chOff x="0" y="0"/>
            <a:chExt cx="11099800" cy="8993292"/>
          </a:xfrm>
        </p:grpSpPr>
        <p:sp>
          <p:nvSpPr>
            <p:cNvPr id="8" name="TextBox 8"/>
            <p:cNvSpPr txBox="1"/>
            <p:nvPr/>
          </p:nvSpPr>
          <p:spPr>
            <a:xfrm>
              <a:off x="0" y="2116242"/>
              <a:ext cx="11099800" cy="687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 spc="-8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AI-Based Real-Time Sign Language Detection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1547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59"/>
                </a:lnSpc>
              </a:pPr>
              <a:r>
                <a:rPr lang="en-US" sz="7599" b="1" spc="-75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Handsignify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8724900"/>
            <a:ext cx="832485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spc="-3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rPr>
              <a:t>Presented by Gurajala Laasyapriya</a:t>
            </a:r>
          </a:p>
          <a:p>
            <a:pPr marL="0" lvl="0" indent="0" algn="l">
              <a:lnSpc>
                <a:spcPts val="3300"/>
              </a:lnSpc>
            </a:pPr>
            <a:r>
              <a:rPr lang="en-US" sz="3000" spc="-3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rPr>
              <a:t>-23102C010036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7100148"/>
            <a:ext cx="11201400" cy="1478716"/>
            <a:chOff x="0" y="0"/>
            <a:chExt cx="14935200" cy="1971621"/>
          </a:xfrm>
        </p:grpSpPr>
        <p:sp>
          <p:nvSpPr>
            <p:cNvPr id="3" name="TextBox 3"/>
            <p:cNvSpPr txBox="1"/>
            <p:nvPr/>
          </p:nvSpPr>
          <p:spPr>
            <a:xfrm>
              <a:off x="0" y="1573053"/>
              <a:ext cx="14935200" cy="398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2"/>
                </a:lnSpc>
              </a:pPr>
              <a:r>
                <a:rPr lang="en-US" sz="1975" u="none" strike="noStrike" spc="-19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AI enhances real-time sign language communication effectively.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215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555"/>
                </a:lnSpc>
              </a:pPr>
              <a:r>
                <a:rPr lang="en-US" sz="5959" b="1" spc="-5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Bridging Communication Gaps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50054" y="2707851"/>
            <a:ext cx="6619838" cy="6296484"/>
          </a:xfrm>
          <a:custGeom>
            <a:avLst/>
            <a:gdLst/>
            <a:ahLst/>
            <a:cxnLst/>
            <a:rect l="l" t="t" r="r" b="b"/>
            <a:pathLst>
              <a:path w="6619838" h="6296484">
                <a:moveTo>
                  <a:pt x="0" y="0"/>
                </a:moveTo>
                <a:lnTo>
                  <a:pt x="6619838" y="0"/>
                </a:lnTo>
                <a:lnTo>
                  <a:pt x="6619838" y="6296484"/>
                </a:lnTo>
                <a:lnTo>
                  <a:pt x="0" y="6296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7" r="-38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6157" y="3452843"/>
            <a:ext cx="10411344" cy="5551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4651" lvl="1" indent="-472326" algn="l">
              <a:lnSpc>
                <a:spcPts val="4812"/>
              </a:lnSpc>
              <a:buFont typeface="Arial"/>
              <a:buChar char="•"/>
            </a:pPr>
            <a:r>
              <a:rPr lang="en-US" sz="4375" b="1" spc="-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Communication gap exists between hearing and speech-impaired individuals.</a:t>
            </a:r>
          </a:p>
          <a:p>
            <a:pPr marL="944651" lvl="1" indent="-472326" algn="l">
              <a:lnSpc>
                <a:spcPts val="4812"/>
              </a:lnSpc>
              <a:buFont typeface="Arial"/>
              <a:buChar char="•"/>
            </a:pPr>
            <a:r>
              <a:rPr lang="en-US" sz="4375" b="1" spc="-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Limited awareness and understanding of sign language among the general public.</a:t>
            </a:r>
          </a:p>
          <a:p>
            <a:pPr marL="944651" lvl="1" indent="-472326" algn="l">
              <a:lnSpc>
                <a:spcPts val="4812"/>
              </a:lnSpc>
              <a:buFont typeface="Arial"/>
              <a:buChar char="•"/>
            </a:pPr>
            <a:r>
              <a:rPr lang="en-US" sz="4375" b="1" spc="-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Lack of real-time, user-friendly translation tools for effective interaction.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5587" y="336865"/>
            <a:ext cx="10998002" cy="162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41506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2639675" cy="1784350"/>
            <a:chOff x="0" y="0"/>
            <a:chExt cx="16852900" cy="2379134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Communication Barriers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50484"/>
              <a:ext cx="168529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Challenges Faced by the Deaf Community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1846" y="2912218"/>
            <a:ext cx="9760482" cy="576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82"/>
              </a:lnSpc>
            </a:pPr>
            <a:endParaRPr/>
          </a:p>
          <a:p>
            <a:pPr marL="0" lvl="0" indent="0" algn="l">
              <a:lnSpc>
                <a:spcPts val="3782"/>
              </a:lnSpc>
            </a:pPr>
            <a:endParaRPr/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Lack of a common communication medium.</a:t>
            </a:r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Low awareness of sign language among the public.</a:t>
            </a:r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Dependence on interpreters, which limits privacy and independence.</a:t>
            </a:r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in real-time interactions in daily and professional life.</a:t>
            </a:r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Resulting social exclusion and limited accessibility.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290684" y="0"/>
            <a:ext cx="6997316" cy="10287000"/>
            <a:chOff x="0" y="0"/>
            <a:chExt cx="1170208" cy="17203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208" cy="1720363"/>
            </a:xfrm>
            <a:custGeom>
              <a:avLst/>
              <a:gdLst/>
              <a:ahLst/>
              <a:cxnLst/>
              <a:rect l="l" t="t" r="r" b="b"/>
              <a:pathLst>
                <a:path w="1170208" h="1720363">
                  <a:moveTo>
                    <a:pt x="0" y="0"/>
                  </a:moveTo>
                  <a:lnTo>
                    <a:pt x="1170208" y="0"/>
                  </a:lnTo>
                  <a:lnTo>
                    <a:pt x="1170208" y="1720363"/>
                  </a:lnTo>
                  <a:lnTo>
                    <a:pt x="0" y="1720363"/>
                  </a:lnTo>
                  <a:close/>
                </a:path>
              </a:pathLst>
            </a:custGeom>
            <a:blipFill>
              <a:blip r:embed="rId2"/>
              <a:stretch>
                <a:fillRect l="-3751" r="-375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3932781"/>
            <a:ext cx="6383525" cy="5103158"/>
          </a:xfrm>
          <a:custGeom>
            <a:avLst/>
            <a:gdLst/>
            <a:ahLst/>
            <a:cxnLst/>
            <a:rect l="l" t="t" r="r" b="b"/>
            <a:pathLst>
              <a:path w="6383525" h="5103158">
                <a:moveTo>
                  <a:pt x="0" y="0"/>
                </a:moveTo>
                <a:lnTo>
                  <a:pt x="6383525" y="0"/>
                </a:lnTo>
                <a:lnTo>
                  <a:pt x="6383525" y="5103158"/>
                </a:lnTo>
                <a:lnTo>
                  <a:pt x="0" y="510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544" b="-1254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Objectives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296400" y="743278"/>
            <a:ext cx="8324850" cy="1955472"/>
            <a:chOff x="0" y="0"/>
            <a:chExt cx="11099800" cy="2607296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11099800" cy="726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9"/>
                </a:lnSpc>
              </a:pPr>
              <a:r>
                <a:rPr lang="en-US" sz="3499" b="1" spc="-34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Accessibility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53638"/>
              <a:ext cx="11099800" cy="175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Our system enhances accessibility for the hearing impaired by translating sign language gestures into spoken language in real-time.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430540"/>
            <a:ext cx="8324850" cy="2064692"/>
            <a:chOff x="0" y="0"/>
            <a:chExt cx="11099800" cy="2752923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11099800" cy="726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9"/>
                </a:lnSpc>
              </a:pPr>
              <a:r>
                <a:rPr lang="en-US" sz="3499" b="1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Communication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53638"/>
              <a:ext cx="11099800" cy="18992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</a:pPr>
              <a:r>
                <a:rPr lang="en-US" sz="2699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By using AI technology, we enhance interactions between hearing and non-hearing individuals, promoting inclusivity and a more connected society.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484360"/>
            <a:ext cx="8324850" cy="2467282"/>
            <a:chOff x="0" y="0"/>
            <a:chExt cx="11099800" cy="328971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9050"/>
              <a:ext cx="11099800" cy="726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9"/>
                </a:lnSpc>
              </a:pPr>
              <a:r>
                <a:rPr lang="en-US" sz="3499" b="1" spc="-34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 Accuracy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53638"/>
              <a:ext cx="11099800" cy="2436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Our project uses advanced machine learning to improve sign language recognition accuracy, enabling precise gesture interpretation for better communication in diverse environments.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TAKEAWAYS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44089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581025"/>
            <a:ext cx="115062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7000" b="1" u="none" strike="noStrike" spc="-7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Features of HandSignify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867400"/>
            <a:ext cx="5626061" cy="1627989"/>
            <a:chOff x="0" y="0"/>
            <a:chExt cx="7501415" cy="2170653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501415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Real-Time Detection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86"/>
              <a:ext cx="7501415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HandSignify enables real-time sign language recognition using advanced algorithms for seamless communication.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92811" y="5767780"/>
            <a:ext cx="5429080" cy="3037689"/>
            <a:chOff x="0" y="0"/>
            <a:chExt cx="7238774" cy="405025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User-Friendly Interface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86"/>
              <a:ext cx="7238774" cy="3297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The platform offers an intuitive interface with simple controls and clear visuals for easy navigation and a better user experience.</a:t>
              </a:r>
            </a:p>
            <a:p>
              <a:pPr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96804" y="5767780"/>
            <a:ext cx="5424446" cy="1980414"/>
            <a:chOff x="0" y="0"/>
            <a:chExt cx="7232595" cy="264055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32595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Translation Capabilities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86"/>
              <a:ext cx="7232595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The system translates sign language into text and speech, enabling easy and inclusive communication.</a:t>
              </a:r>
            </a:p>
            <a:p>
              <a:pPr marL="0" lvl="0" indent="0"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7441506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472477" y="2457450"/>
            <a:ext cx="3181350" cy="2686050"/>
            <a:chOff x="0" y="0"/>
            <a:chExt cx="721712" cy="6093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2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2909358" y="2457450"/>
            <a:ext cx="3181350" cy="2686050"/>
            <a:chOff x="0" y="0"/>
            <a:chExt cx="721712" cy="6093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3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190917" y="2457450"/>
            <a:ext cx="3181350" cy="2686050"/>
            <a:chOff x="0" y="0"/>
            <a:chExt cx="721712" cy="6093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4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79736" y="660938"/>
            <a:ext cx="12639675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0"/>
              </a:lnSpc>
            </a:pPr>
            <a:r>
              <a:rPr lang="en-US" sz="7000" b="1" spc="-70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Technology Stack</a:t>
            </a:r>
          </a:p>
        </p:txBody>
      </p:sp>
      <p:sp>
        <p:nvSpPr>
          <p:cNvPr id="3" name="AutoShape 3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3976" y="3882607"/>
            <a:ext cx="3180531" cy="3009699"/>
            <a:chOff x="0" y="0"/>
            <a:chExt cx="474381" cy="4489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4381" cy="448901"/>
            </a:xfrm>
            <a:custGeom>
              <a:avLst/>
              <a:gdLst/>
              <a:ahLst/>
              <a:cxnLst/>
              <a:rect l="l" t="t" r="r" b="b"/>
              <a:pathLst>
                <a:path w="474381" h="448901">
                  <a:moveTo>
                    <a:pt x="121708" y="0"/>
                  </a:moveTo>
                  <a:lnTo>
                    <a:pt x="352673" y="0"/>
                  </a:lnTo>
                  <a:cubicBezTo>
                    <a:pt x="419890" y="0"/>
                    <a:pt x="474381" y="54491"/>
                    <a:pt x="474381" y="121708"/>
                  </a:cubicBezTo>
                  <a:lnTo>
                    <a:pt x="474381" y="327193"/>
                  </a:lnTo>
                  <a:cubicBezTo>
                    <a:pt x="474381" y="359472"/>
                    <a:pt x="461558" y="390429"/>
                    <a:pt x="438733" y="413253"/>
                  </a:cubicBezTo>
                  <a:cubicBezTo>
                    <a:pt x="415909" y="436078"/>
                    <a:pt x="384952" y="448901"/>
                    <a:pt x="352673" y="448901"/>
                  </a:cubicBezTo>
                  <a:lnTo>
                    <a:pt x="121708" y="448901"/>
                  </a:lnTo>
                  <a:cubicBezTo>
                    <a:pt x="54491" y="448901"/>
                    <a:pt x="0" y="394410"/>
                    <a:pt x="0" y="327193"/>
                  </a:cubicBezTo>
                  <a:lnTo>
                    <a:pt x="0" y="121708"/>
                  </a:lnTo>
                  <a:cubicBezTo>
                    <a:pt x="0" y="54491"/>
                    <a:pt x="54491" y="0"/>
                    <a:pt x="121708" y="0"/>
                  </a:cubicBezTo>
                  <a:close/>
                </a:path>
              </a:pathLst>
            </a:custGeom>
            <a:blipFill>
              <a:blip r:embed="rId2"/>
              <a:stretch>
                <a:fillRect l="-200" r="-20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459541" y="4067988"/>
            <a:ext cx="3044611" cy="2843901"/>
            <a:chOff x="0" y="0"/>
            <a:chExt cx="480582" cy="4489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0582" cy="448901"/>
            </a:xfrm>
            <a:custGeom>
              <a:avLst/>
              <a:gdLst/>
              <a:ahLst/>
              <a:cxnLst/>
              <a:rect l="l" t="t" r="r" b="b"/>
              <a:pathLst>
                <a:path w="480582" h="448901">
                  <a:moveTo>
                    <a:pt x="127141" y="0"/>
                  </a:moveTo>
                  <a:lnTo>
                    <a:pt x="353441" y="0"/>
                  </a:lnTo>
                  <a:cubicBezTo>
                    <a:pt x="423659" y="0"/>
                    <a:pt x="480582" y="56923"/>
                    <a:pt x="480582" y="127141"/>
                  </a:cubicBezTo>
                  <a:lnTo>
                    <a:pt x="480582" y="321759"/>
                  </a:lnTo>
                  <a:cubicBezTo>
                    <a:pt x="480582" y="355479"/>
                    <a:pt x="467187" y="387818"/>
                    <a:pt x="443343" y="411662"/>
                  </a:cubicBezTo>
                  <a:cubicBezTo>
                    <a:pt x="419500" y="435506"/>
                    <a:pt x="387161" y="448901"/>
                    <a:pt x="353441" y="448901"/>
                  </a:cubicBezTo>
                  <a:lnTo>
                    <a:pt x="127141" y="448901"/>
                  </a:lnTo>
                  <a:cubicBezTo>
                    <a:pt x="93421" y="448901"/>
                    <a:pt x="61082" y="435506"/>
                    <a:pt x="37239" y="411662"/>
                  </a:cubicBezTo>
                  <a:cubicBezTo>
                    <a:pt x="13395" y="387818"/>
                    <a:pt x="0" y="355479"/>
                    <a:pt x="0" y="321759"/>
                  </a:cubicBezTo>
                  <a:lnTo>
                    <a:pt x="0" y="127141"/>
                  </a:lnTo>
                  <a:cubicBezTo>
                    <a:pt x="0" y="93421"/>
                    <a:pt x="13395" y="61082"/>
                    <a:pt x="37239" y="37239"/>
                  </a:cubicBezTo>
                  <a:cubicBezTo>
                    <a:pt x="61082" y="13395"/>
                    <a:pt x="93421" y="0"/>
                    <a:pt x="127141" y="0"/>
                  </a:cubicBezTo>
                  <a:close/>
                </a:path>
              </a:pathLst>
            </a:custGeom>
            <a:blipFill>
              <a:blip r:embed="rId3"/>
              <a:stretch>
                <a:fillRect l="-151" r="-151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629641" y="7284842"/>
            <a:ext cx="1629199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Python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4882" y="7338658"/>
            <a:ext cx="2366118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TensorFlow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9745" y="7284842"/>
            <a:ext cx="1110857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Flask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73873" y="7106380"/>
            <a:ext cx="1680527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OpenCV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053683" y="3854683"/>
            <a:ext cx="3258048" cy="3037623"/>
            <a:chOff x="0" y="0"/>
            <a:chExt cx="481475" cy="4489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475" cy="448901"/>
            </a:xfrm>
            <a:custGeom>
              <a:avLst/>
              <a:gdLst/>
              <a:ahLst/>
              <a:cxnLst/>
              <a:rect l="l" t="t" r="r" b="b"/>
              <a:pathLst>
                <a:path w="481475" h="448901">
                  <a:moveTo>
                    <a:pt x="118812" y="0"/>
                  </a:moveTo>
                  <a:lnTo>
                    <a:pt x="362663" y="0"/>
                  </a:lnTo>
                  <a:cubicBezTo>
                    <a:pt x="428281" y="0"/>
                    <a:pt x="481475" y="53194"/>
                    <a:pt x="481475" y="118812"/>
                  </a:cubicBezTo>
                  <a:lnTo>
                    <a:pt x="481475" y="330089"/>
                  </a:lnTo>
                  <a:cubicBezTo>
                    <a:pt x="481475" y="361599"/>
                    <a:pt x="468958" y="391820"/>
                    <a:pt x="446676" y="414101"/>
                  </a:cubicBezTo>
                  <a:cubicBezTo>
                    <a:pt x="424394" y="436383"/>
                    <a:pt x="394174" y="448901"/>
                    <a:pt x="362663" y="448901"/>
                  </a:cubicBezTo>
                  <a:lnTo>
                    <a:pt x="118812" y="448901"/>
                  </a:lnTo>
                  <a:cubicBezTo>
                    <a:pt x="87301" y="448901"/>
                    <a:pt x="57081" y="436383"/>
                    <a:pt x="34799" y="414101"/>
                  </a:cubicBezTo>
                  <a:cubicBezTo>
                    <a:pt x="12518" y="391820"/>
                    <a:pt x="0" y="361599"/>
                    <a:pt x="0" y="330089"/>
                  </a:cubicBezTo>
                  <a:lnTo>
                    <a:pt x="0" y="118812"/>
                  </a:lnTo>
                  <a:cubicBezTo>
                    <a:pt x="0" y="87301"/>
                    <a:pt x="12518" y="57081"/>
                    <a:pt x="34799" y="34799"/>
                  </a:cubicBezTo>
                  <a:cubicBezTo>
                    <a:pt x="57081" y="12518"/>
                    <a:pt x="87301" y="0"/>
                    <a:pt x="118812" y="0"/>
                  </a:cubicBezTo>
                  <a:close/>
                </a:path>
              </a:pathLst>
            </a:custGeom>
            <a:blipFill>
              <a:blip r:embed="rId4"/>
              <a:stretch>
                <a:fillRect t="-7510" b="-751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15" name="Freeform 15"/>
          <p:cNvSpPr/>
          <p:nvPr/>
        </p:nvSpPr>
        <p:spPr>
          <a:xfrm>
            <a:off x="13651963" y="4067988"/>
            <a:ext cx="2334897" cy="2151024"/>
          </a:xfrm>
          <a:custGeom>
            <a:avLst/>
            <a:gdLst/>
            <a:ahLst/>
            <a:cxnLst/>
            <a:rect l="l" t="t" r="r" b="b"/>
            <a:pathLst>
              <a:path w="2334897" h="2151024">
                <a:moveTo>
                  <a:pt x="0" y="0"/>
                </a:moveTo>
                <a:lnTo>
                  <a:pt x="2334897" y="0"/>
                </a:lnTo>
                <a:lnTo>
                  <a:pt x="2334897" y="2151024"/>
                </a:lnTo>
                <a:lnTo>
                  <a:pt x="0" y="2151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7B7B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1340833"/>
            <a:ext cx="16237311" cy="7719916"/>
          </a:xfrm>
          <a:custGeom>
            <a:avLst/>
            <a:gdLst/>
            <a:ahLst/>
            <a:cxnLst/>
            <a:rect l="l" t="t" r="r" b="b"/>
            <a:pathLst>
              <a:path w="16237311" h="7719916">
                <a:moveTo>
                  <a:pt x="0" y="0"/>
                </a:moveTo>
                <a:lnTo>
                  <a:pt x="16237311" y="0"/>
                </a:lnTo>
                <a:lnTo>
                  <a:pt x="16237311" y="7719916"/>
                </a:lnTo>
                <a:lnTo>
                  <a:pt x="0" y="7719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28" b="-492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0999C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4B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5180" y="2115319"/>
            <a:ext cx="7459347" cy="5193916"/>
            <a:chOff x="0" y="0"/>
            <a:chExt cx="116731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23871" y="0"/>
                  </a:moveTo>
                  <a:lnTo>
                    <a:pt x="1143448" y="0"/>
                  </a:lnTo>
                  <a:cubicBezTo>
                    <a:pt x="1156632" y="0"/>
                    <a:pt x="1167319" y="10688"/>
                    <a:pt x="1167319" y="23871"/>
                  </a:cubicBezTo>
                  <a:lnTo>
                    <a:pt x="1167319" y="788929"/>
                  </a:lnTo>
                  <a:cubicBezTo>
                    <a:pt x="1167319" y="802112"/>
                    <a:pt x="1156632" y="812800"/>
                    <a:pt x="1143448" y="812800"/>
                  </a:cubicBezTo>
                  <a:lnTo>
                    <a:pt x="23871" y="812800"/>
                  </a:lnTo>
                  <a:cubicBezTo>
                    <a:pt x="10688" y="812800"/>
                    <a:pt x="0" y="802112"/>
                    <a:pt x="0" y="788929"/>
                  </a:cubicBezTo>
                  <a:lnTo>
                    <a:pt x="0" y="23871"/>
                  </a:lnTo>
                  <a:cubicBezTo>
                    <a:pt x="0" y="10688"/>
                    <a:pt x="10688" y="0"/>
                    <a:pt x="23871" y="0"/>
                  </a:cubicBezTo>
                  <a:close/>
                </a:path>
              </a:pathLst>
            </a:custGeom>
            <a:blipFill>
              <a:blip r:embed="rId2"/>
              <a:stretch>
                <a:fillRect l="-5703" r="-570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65993" y="2207836"/>
            <a:ext cx="7326172" cy="5101399"/>
            <a:chOff x="0" y="0"/>
            <a:chExt cx="1167319" cy="8128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24305" y="0"/>
                  </a:moveTo>
                  <a:lnTo>
                    <a:pt x="1143014" y="0"/>
                  </a:lnTo>
                  <a:cubicBezTo>
                    <a:pt x="1156437" y="0"/>
                    <a:pt x="1167319" y="10882"/>
                    <a:pt x="1167319" y="24305"/>
                  </a:cubicBezTo>
                  <a:lnTo>
                    <a:pt x="1167319" y="788529"/>
                  </a:lnTo>
                  <a:cubicBezTo>
                    <a:pt x="1167319" y="801952"/>
                    <a:pt x="1156437" y="812834"/>
                    <a:pt x="1143014" y="812834"/>
                  </a:cubicBezTo>
                  <a:lnTo>
                    <a:pt x="24305" y="812834"/>
                  </a:lnTo>
                  <a:cubicBezTo>
                    <a:pt x="10882" y="812834"/>
                    <a:pt x="0" y="801952"/>
                    <a:pt x="0" y="788529"/>
                  </a:cubicBezTo>
                  <a:lnTo>
                    <a:pt x="0" y="24305"/>
                  </a:lnTo>
                  <a:cubicBezTo>
                    <a:pt x="0" y="10882"/>
                    <a:pt x="10882" y="0"/>
                    <a:pt x="24305" y="0"/>
                  </a:cubicBezTo>
                  <a:close/>
                </a:path>
              </a:pathLst>
            </a:custGeom>
            <a:blipFill>
              <a:blip r:embed="rId3"/>
              <a:stretch>
                <a:fillRect l="-5706" r="-5706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404086" y="488950"/>
            <a:ext cx="11080881" cy="106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spc="-69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in 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33043" y="8073402"/>
            <a:ext cx="54483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 spc="-3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Hand Gesture Detection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08633" y="8073402"/>
            <a:ext cx="54483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 spc="-3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Real-Time Translation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Faced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8324850" cy="1627971"/>
            <a:chOff x="0" y="0"/>
            <a:chExt cx="11099800" cy="2170628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Environmental Factors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Environmental conditions can significantly impact </a:t>
              </a:r>
              <a:r>
                <a:rPr lang="en-US" sz="2000" b="1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gesture recognition accuracy</a:t>
              </a:r>
              <a:r>
                <a:rPr lang="en-US" sz="200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. Variations in lighting, background noise, and physical environment can hinder the system's performance and reliability.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2903617"/>
            <a:ext cx="8324850" cy="1627971"/>
            <a:chOff x="0" y="0"/>
            <a:chExt cx="11099800" cy="2170628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Limitations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Insufficient and unbalanced training data can lead to overfitting. A diverse dataset is crucial for effective model training, improving sign language detection efficiency.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5140484"/>
            <a:ext cx="8324850" cy="1627971"/>
            <a:chOff x="0" y="0"/>
            <a:chExt cx="11099800" cy="217062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Computational Complexity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The algorithms used for real-time processing can be computationally intensive, requiring </a:t>
              </a:r>
              <a:r>
                <a:rPr lang="en-US" sz="2000" b="1" spc="-2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optimization</a:t>
              </a: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 to ensure seamless performance while maintaining accuracy in gesture recognition and translation.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7377351"/>
            <a:ext cx="8324850" cy="1980872"/>
            <a:chOff x="0" y="0"/>
            <a:chExt cx="11099800" cy="264116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11099800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Real-Time Processing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3096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Achieving real-time processing demands efficient algorithms and high computational power, which can be a </a:t>
              </a:r>
              <a:r>
                <a:rPr lang="en-US" sz="2000" b="1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challenge</a:t>
              </a:r>
              <a:r>
                <a:rPr lang="en-US" sz="200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 in deployment, especially on low-resource devices like mobile phones or embedded systems.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CONSIDERATIONS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44944" y="4073282"/>
            <a:ext cx="6886575" cy="3762375"/>
            <a:chOff x="0" y="0"/>
            <a:chExt cx="815850" cy="44572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5850" cy="445727"/>
            </a:xfrm>
            <a:custGeom>
              <a:avLst/>
              <a:gdLst/>
              <a:ahLst/>
              <a:cxnLst/>
              <a:rect l="l" t="t" r="r" b="b"/>
              <a:pathLst>
                <a:path w="815850" h="445727">
                  <a:moveTo>
                    <a:pt x="0" y="0"/>
                  </a:moveTo>
                  <a:lnTo>
                    <a:pt x="815850" y="0"/>
                  </a:lnTo>
                  <a:lnTo>
                    <a:pt x="815850" y="445727"/>
                  </a:lnTo>
                  <a:lnTo>
                    <a:pt x="0" y="445727"/>
                  </a:lnTo>
                  <a:close/>
                </a:path>
              </a:pathLst>
            </a:custGeom>
            <a:blipFill>
              <a:blip r:embed="rId2"/>
              <a:stretch>
                <a:fillRect l="-353" r="-353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66750" y="3009065"/>
            <a:ext cx="10146804" cy="615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Develop a mobile application for on-the-go sign translation.</a:t>
            </a:r>
          </a:p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 multilingual support for regional and international languages.</a:t>
            </a:r>
          </a:p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Integrate with video conferencing platforms for real-time conversations.</a:t>
            </a:r>
          </a:p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Enhance accuracy using deep learning and larger gesture datasets.</a:t>
            </a:r>
          </a:p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Extend functionality to two-way translation — text/speech to sign gestures.</a:t>
            </a:r>
          </a:p>
          <a:p>
            <a:pPr algn="l">
              <a:lnSpc>
                <a:spcPts val="4014"/>
              </a:lnSpc>
            </a:pPr>
            <a:endParaRPr lang="en-US" sz="3649" b="1" spc="-36">
              <a:solidFill>
                <a:srgbClr val="F5F6F7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486561"/>
            <a:ext cx="11506200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Scope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4062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534539" y="-183473"/>
            <a:ext cx="6383532" cy="9713236"/>
            <a:chOff x="-36830" y="-113030"/>
            <a:chExt cx="3604679" cy="5484910"/>
          </a:xfrm>
        </p:grpSpPr>
        <p:sp>
          <p:nvSpPr>
            <p:cNvPr id="7" name="Freeform 7"/>
            <p:cNvSpPr/>
            <p:nvPr/>
          </p:nvSpPr>
          <p:spPr>
            <a:xfrm>
              <a:off x="2782" y="17354"/>
              <a:ext cx="3601897" cy="5467556"/>
            </a:xfrm>
            <a:custGeom>
              <a:avLst/>
              <a:gdLst/>
              <a:ahLst/>
              <a:cxnLst/>
              <a:rect l="l" t="t" r="r" b="b"/>
              <a:pathLst>
                <a:path w="3601897" h="5467556">
                  <a:moveTo>
                    <a:pt x="3601897" y="3001757"/>
                  </a:moveTo>
                  <a:cubicBezTo>
                    <a:pt x="3601897" y="3272780"/>
                    <a:pt x="3461257" y="3542338"/>
                    <a:pt x="3178510" y="3649281"/>
                  </a:cubicBezTo>
                  <a:cubicBezTo>
                    <a:pt x="2787855" y="3798710"/>
                    <a:pt x="2740048" y="4176677"/>
                    <a:pt x="2785123" y="4560503"/>
                  </a:cubicBezTo>
                  <a:cubicBezTo>
                    <a:pt x="2845224" y="5074713"/>
                    <a:pt x="2349393" y="5467556"/>
                    <a:pt x="1905467" y="5278346"/>
                  </a:cubicBezTo>
                  <a:cubicBezTo>
                    <a:pt x="1808486" y="5232932"/>
                    <a:pt x="1715603" y="5174333"/>
                    <a:pt x="1610427" y="5156753"/>
                  </a:cubicBezTo>
                  <a:cubicBezTo>
                    <a:pt x="1477932" y="5133313"/>
                    <a:pt x="1339973" y="5167008"/>
                    <a:pt x="1206113" y="5145033"/>
                  </a:cubicBezTo>
                  <a:cubicBezTo>
                    <a:pt x="738966" y="5065923"/>
                    <a:pt x="378361" y="4992674"/>
                    <a:pt x="166643" y="4488719"/>
                  </a:cubicBezTo>
                  <a:cubicBezTo>
                    <a:pt x="0" y="4093172"/>
                    <a:pt x="15025" y="3603867"/>
                    <a:pt x="271819" y="3255200"/>
                  </a:cubicBezTo>
                  <a:cubicBezTo>
                    <a:pt x="413875" y="3066217"/>
                    <a:pt x="484904" y="2817169"/>
                    <a:pt x="484904" y="2562262"/>
                  </a:cubicBezTo>
                  <a:cubicBezTo>
                    <a:pt x="484904" y="2300029"/>
                    <a:pt x="411144" y="2030471"/>
                    <a:pt x="262258" y="1810723"/>
                  </a:cubicBezTo>
                  <a:cubicBezTo>
                    <a:pt x="107908" y="1579255"/>
                    <a:pt x="39612" y="1317023"/>
                    <a:pt x="39612" y="1066510"/>
                  </a:cubicBezTo>
                  <a:cubicBezTo>
                    <a:pt x="39612" y="794023"/>
                    <a:pt x="154350" y="461471"/>
                    <a:pt x="338750" y="266627"/>
                  </a:cubicBezTo>
                  <a:cubicBezTo>
                    <a:pt x="592812" y="0"/>
                    <a:pt x="952051" y="158218"/>
                    <a:pt x="1126889" y="451216"/>
                  </a:cubicBezTo>
                  <a:cubicBezTo>
                    <a:pt x="1256652" y="670964"/>
                    <a:pt x="1523008" y="818927"/>
                    <a:pt x="1766143" y="760328"/>
                  </a:cubicBezTo>
                  <a:cubicBezTo>
                    <a:pt x="1853562" y="739818"/>
                    <a:pt x="1935517" y="701728"/>
                    <a:pt x="2018839" y="669499"/>
                  </a:cubicBezTo>
                  <a:cubicBezTo>
                    <a:pt x="2345295" y="544975"/>
                    <a:pt x="2741414" y="704658"/>
                    <a:pt x="2869811" y="1060650"/>
                  </a:cubicBezTo>
                  <a:cubicBezTo>
                    <a:pt x="2946303" y="1273073"/>
                    <a:pt x="2865713" y="1421037"/>
                    <a:pt x="2843858" y="1629065"/>
                  </a:cubicBezTo>
                  <a:cubicBezTo>
                    <a:pt x="2811076" y="1936712"/>
                    <a:pt x="2951766" y="2247289"/>
                    <a:pt x="3220854" y="2373278"/>
                  </a:cubicBezTo>
                  <a:cubicBezTo>
                    <a:pt x="3477648" y="2493407"/>
                    <a:pt x="3601897" y="2748315"/>
                    <a:pt x="3601897" y="3001757"/>
                  </a:cubicBezTo>
                  <a:close/>
                </a:path>
              </a:pathLst>
            </a:custGeom>
            <a:blipFill>
              <a:blip r:embed="rId2"/>
              <a:stretch>
                <a:fillRect l="-30690" t="-5016" r="-31622" b="-6254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74B6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3360326"/>
            <a:chOff x="0" y="0"/>
            <a:chExt cx="11099800" cy="4480435"/>
          </a:xfrm>
        </p:grpSpPr>
        <p:sp>
          <p:nvSpPr>
            <p:cNvPr id="8" name="TextBox 8"/>
            <p:cNvSpPr txBox="1"/>
            <p:nvPr/>
          </p:nvSpPr>
          <p:spPr>
            <a:xfrm>
              <a:off x="0" y="3062269"/>
              <a:ext cx="11099800" cy="1418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HandSignify represents a </a:t>
              </a:r>
              <a:r>
                <a:rPr lang="en-US" sz="2000" b="1" spc="-2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breakthrough in accessibility</a:t>
              </a: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, harnessing AI to bridge communication gaps. By transforming sign language into text, it empowers individuals to connect seamlessly and inclusively.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2669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 Future of Communication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Conclusion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FINAL THOUGHTS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42255" y="5448300"/>
            <a:ext cx="7803489" cy="1743948"/>
          </a:xfrm>
          <a:custGeom>
            <a:avLst/>
            <a:gdLst/>
            <a:ahLst/>
            <a:cxnLst/>
            <a:rect l="l" t="t" r="r" b="b"/>
            <a:pathLst>
              <a:path w="7803489" h="1743948">
                <a:moveTo>
                  <a:pt x="0" y="0"/>
                </a:moveTo>
                <a:lnTo>
                  <a:pt x="7803489" y="0"/>
                </a:lnTo>
                <a:lnTo>
                  <a:pt x="7803489" y="1743948"/>
                </a:lnTo>
                <a:lnTo>
                  <a:pt x="0" y="1743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3434" b="-1103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38800" y="3730473"/>
            <a:ext cx="7239000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88"/>
              </a:lnSpc>
              <a:spcBef>
                <a:spcPct val="0"/>
              </a:spcBef>
            </a:pPr>
            <a:r>
              <a:rPr lang="en-US" sz="9261" b="1" spc="-92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478</Words>
  <Application>Microsoft Office PowerPoint</Application>
  <PresentationFormat>Custom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Telegraf</vt:lpstr>
      <vt:lpstr>Telegraf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AI-Based Real-Time Sign Language Detection</dc:title>
  <dc:description>Presentation - AI-Based Real-Time Sign Language Detection</dc:description>
  <cp:lastModifiedBy>23102C010036</cp:lastModifiedBy>
  <cp:revision>3</cp:revision>
  <dcterms:created xsi:type="dcterms:W3CDTF">2006-08-16T00:00:00Z</dcterms:created>
  <dcterms:modified xsi:type="dcterms:W3CDTF">2025-10-27T17:54:06Z</dcterms:modified>
  <dc:identifier>DAG2_7NkFKE</dc:identifier>
</cp:coreProperties>
</file>